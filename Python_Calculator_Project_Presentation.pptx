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365760"/>
            <a:ext cx="2286000" cy="2286000"/>
          </a:xfrm>
          <a:prstGeom prst="ellipse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2743200"/>
            <a:ext cx="1097280" cy="1097280"/>
          </a:xfrm>
          <a:prstGeom prst="ellipse">
            <a:avLst/>
          </a:prstGeom>
          <a:solidFill>
            <a:srgbClr val="3D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4297680"/>
            <a:ext cx="640080" cy="640080"/>
          </a:xfrm>
          <a:prstGeom prst="ellipse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754880"/>
            <a:ext cx="365760" cy="365760"/>
          </a:xfrm>
          <a:prstGeom prst="ellipse">
            <a:avLst/>
          </a:prstGeom>
          <a:solidFill>
            <a:srgbClr val="EB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49808"/>
            <a:ext cx="6035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3DBEAA"/>
                </a:solidFill>
                <a:latin typeface="Aptos"/>
              </a:rPr>
              <a:t>INTERNSHIP PROJECT  •  PROJECT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7132320" cy="1645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Building a Basic
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10128"/>
            <a:ext cx="6766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800" b="0">
                <a:solidFill>
                  <a:srgbClr val="D0D4E5"/>
                </a:solidFill>
                <a:latin typeface="Aptos"/>
              </a:rPr>
              <a:t>A desktop GUI application using Python and Tkinter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4160520"/>
            <a:ext cx="2926080" cy="475488"/>
          </a:xfrm>
          <a:prstGeom prst="roundRect">
            <a:avLst/>
          </a:prstGeom>
          <a:solidFill>
            <a:srgbClr val="2B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279392"/>
            <a:ext cx="2651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NextHikes IT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74243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Presented by Paridhi Jain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610819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0">
                <a:solidFill>
                  <a:srgbClr val="B9BFD6"/>
                </a:solidFill>
                <a:latin typeface="Aptos"/>
              </a:rPr>
              <a:t>Python  •  Tkinter  •  VS Code  • 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131930"/>
                </a:solidFill>
                <a:latin typeface="Aptos"/>
              </a:rPr>
              <a:t>Project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987552"/>
            <a:ext cx="658368" cy="64008"/>
          </a:xfrm>
          <a:prstGeom prst="roundRect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646B80"/>
                </a:solidFill>
                <a:latin typeface="Aptos"/>
              </a:rPr>
              <a:t>What the application does and why it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B80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800" b="1">
                <a:solidFill>
                  <a:srgbClr val="7052E8"/>
                </a:solidFill>
                <a:latin typeface="Aptos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484632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100" b="1">
                <a:solidFill>
                  <a:srgbClr val="131930"/>
                </a:solidFill>
                <a:latin typeface="Aptos"/>
              </a:rPr>
              <a:t>Build a simple desktop calculator that lets users enter arithmetic expressions through clickable buttons and view the result in a display field.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73736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89904" y="1901952"/>
            <a:ext cx="73152" cy="1088136"/>
          </a:xfrm>
          <a:prstGeom prst="roundRect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938528"/>
            <a:ext cx="19842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User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359152"/>
            <a:ext cx="1984248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646B80"/>
                </a:solidFill>
                <a:latin typeface="Aptos"/>
              </a:rPr>
              <a:t>A window, display field and clickable controls.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73736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78824" y="1901952"/>
            <a:ext cx="73152" cy="1088136"/>
          </a:xfrm>
          <a:prstGeom prst="roundRect">
            <a:avLst/>
          </a:prstGeom>
          <a:solidFill>
            <a:srgbClr val="3D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9992" y="1938528"/>
            <a:ext cx="19842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Calculation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2359152"/>
            <a:ext cx="1984248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646B80"/>
                </a:solidFill>
                <a:latin typeface="Aptos"/>
              </a:rPr>
              <a:t>Python functions process input and calculate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747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9904" y="3639312"/>
            <a:ext cx="73152" cy="1088136"/>
          </a:xfrm>
          <a:prstGeom prst="round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675887"/>
            <a:ext cx="19842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Error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096511"/>
            <a:ext cx="1984248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646B80"/>
                </a:solidFill>
                <a:latin typeface="Aptos"/>
              </a:rPr>
              <a:t>Basic handling for invalid expressions and arithmetic errors.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4747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78824" y="3639312"/>
            <a:ext cx="73152" cy="1088136"/>
          </a:xfrm>
          <a:prstGeom prst="roundRect">
            <a:avLst/>
          </a:prstGeom>
          <a:solidFill>
            <a:srgbClr val="319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9992" y="3675887"/>
            <a:ext cx="19842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Learning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4096511"/>
            <a:ext cx="1984248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646B80"/>
                </a:solidFill>
                <a:latin typeface="Aptos"/>
              </a:rPr>
              <a:t>Practise Python, Tkinter and application development.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44068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646B80"/>
                </a:solidFill>
                <a:latin typeface="Aptos"/>
              </a:rPr>
              <a:t>Project brief: NextHikes IT Solutions — Project 2: Building Basic Calculator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9672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646B80"/>
                </a:solidFill>
                <a:latin typeface="Aptos"/>
              </a:rPr>
              <a:t>NEXT HIKES IT SOLUTIONS  •  PYTHON CALCULATOR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92240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46B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131930"/>
                </a:solidFill>
                <a:latin typeface="Aptos"/>
              </a:rPr>
              <a:t>Core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987552"/>
            <a:ext cx="658368" cy="64008"/>
          </a:xfrm>
          <a:prstGeom prst="roundRect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646B80"/>
                </a:solidFill>
                <a:latin typeface="Aptos"/>
              </a:rPr>
              <a:t>Features specified in the project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B80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1">
                <a:solidFill>
                  <a:srgbClr val="7052E8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73352"/>
            <a:ext cx="3383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Display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20824"/>
            <a:ext cx="3931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646B80"/>
                </a:solidFill>
                <a:latin typeface="Aptos"/>
              </a:rPr>
              <a:t>Shows the entered expression and calculated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15768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1">
                <a:solidFill>
                  <a:srgbClr val="7052E8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97480"/>
            <a:ext cx="3383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Number &amp; operator buttons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44952"/>
            <a:ext cx="3931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646B80"/>
                </a:solidFill>
                <a:latin typeface="Aptos"/>
              </a:rPr>
              <a:t>Clickable digits 0–9 and +, −, ×, ÷ operators.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39896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1">
                <a:solidFill>
                  <a:srgbClr val="7052E8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21608"/>
            <a:ext cx="3383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Calculate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69080"/>
            <a:ext cx="3931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646B80"/>
                </a:solidFill>
                <a:latin typeface="Aptos"/>
              </a:rPr>
              <a:t>The = button evaluates the current expression.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764024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1">
                <a:solidFill>
                  <a:srgbClr val="7052E8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45736"/>
            <a:ext cx="3383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Clear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093208"/>
            <a:ext cx="3931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646B80"/>
                </a:solidFill>
                <a:latin typeface="Aptos"/>
              </a:rPr>
              <a:t>The C button clears the display.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572768"/>
            <a:ext cx="3840480" cy="4389120"/>
          </a:xfrm>
          <a:prstGeom prst="roundRect">
            <a:avLst/>
          </a:prstGeom>
          <a:solidFill>
            <a:srgbClr val="EEF0F7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783080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31930"/>
                </a:solidFill>
                <a:latin typeface="Aptos"/>
              </a:rPr>
              <a:t>Python Calculator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2240280"/>
            <a:ext cx="32004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2368296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900" b="0">
                <a:solidFill>
                  <a:srgbClr val="232738"/>
                </a:solidFill>
                <a:latin typeface="Aptos"/>
              </a:rPr>
              <a:t>7 + 3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3063240"/>
            <a:ext cx="694944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145536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31930"/>
                </a:solidFill>
                <a:latin typeface="Aptos"/>
              </a:rP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16952" y="3063240"/>
            <a:ext cx="694944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6952" y="3145536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31930"/>
                </a:solidFill>
                <a:latin typeface="Aptos"/>
              </a:rP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21624" y="3063240"/>
            <a:ext cx="694944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3145536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31930"/>
                </a:solidFill>
                <a:latin typeface="Aptos"/>
              </a:rPr>
              <a:t>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26296" y="3063240"/>
            <a:ext cx="694944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26296" y="3145536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31930"/>
                </a:solidFill>
                <a:latin typeface="Aptos"/>
              </a:rPr>
              <a:t>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3685032"/>
            <a:ext cx="694944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3767328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31930"/>
                </a:solidFill>
                <a:latin typeface="Aptos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16952" y="3685032"/>
            <a:ext cx="694944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16952" y="3767328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31930"/>
                </a:solidFill>
                <a:latin typeface="Aptos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21624" y="3685032"/>
            <a:ext cx="694944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1624" y="3767328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31930"/>
                </a:solidFill>
                <a:latin typeface="Aptos"/>
              </a:rP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26296" y="3685032"/>
            <a:ext cx="694944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26296" y="3767328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31930"/>
                </a:solidFill>
                <a:latin typeface="Aptos"/>
              </a:rPr>
              <a:t>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12280" y="4306824"/>
            <a:ext cx="694944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4389120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31930"/>
                </a:solidFill>
                <a:latin typeface="Aptos"/>
              </a:rPr>
              <a:t>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16952" y="4306824"/>
            <a:ext cx="694944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16952" y="4389120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31930"/>
                </a:solidFill>
                <a:latin typeface="Aptos"/>
              </a:rPr>
              <a:t>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21624" y="4306824"/>
            <a:ext cx="694944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21624" y="4389120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31930"/>
                </a:solidFill>
                <a:latin typeface="Aptos"/>
              </a:rPr>
              <a:t>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26296" y="4306824"/>
            <a:ext cx="694944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26296" y="4389120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31930"/>
                </a:solidFill>
                <a:latin typeface="Aptos"/>
              </a:rPr>
              <a:t>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12280" y="4928616"/>
            <a:ext cx="694944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12280" y="5010912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31930"/>
                </a:solidFill>
                <a:latin typeface="Aptos"/>
              </a:rPr>
              <a:t>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16952" y="4928616"/>
            <a:ext cx="694944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16952" y="5010912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31930"/>
                </a:solidFill>
                <a:latin typeface="Aptos"/>
              </a:rPr>
              <a:t>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21624" y="4928616"/>
            <a:ext cx="694944" cy="484632"/>
          </a:xfrm>
          <a:prstGeom prst="roundRect">
            <a:avLst/>
          </a:prstGeom>
          <a:solidFill>
            <a:srgbClr val="7052E8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21624" y="5010912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=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26296" y="4928616"/>
            <a:ext cx="694944" cy="484632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26296" y="5010912"/>
            <a:ext cx="6949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31930"/>
                </a:solidFill>
                <a:latin typeface="Aptos"/>
              </a:rPr>
              <a:t>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6053328"/>
            <a:ext cx="3657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B80"/>
                </a:solidFill>
                <a:latin typeface="Aptos"/>
              </a:rPr>
              <a:t>Illustrative layout based on the project brief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" y="6519672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646B80"/>
                </a:solidFill>
                <a:latin typeface="Aptos"/>
              </a:rPr>
              <a:t>NEXT HIKES IT SOLUTIONS  •  PYTHON CALCULATOR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92840" y="6492240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46B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131930"/>
                </a:solidFill>
                <a:latin typeface="Aptos"/>
              </a:rPr>
              <a:t>Tools &amp; Technologies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987552"/>
            <a:ext cx="658368" cy="64008"/>
          </a:xfrm>
          <a:prstGeom prst="roundRect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646B80"/>
                </a:solidFill>
                <a:latin typeface="Aptos"/>
              </a:rPr>
              <a:t>Each tool has a specific role in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B80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901952"/>
            <a:ext cx="73152" cy="1179576"/>
          </a:xfrm>
          <a:prstGeom prst="roundRect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38528"/>
            <a:ext cx="45445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359152"/>
            <a:ext cx="454456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0">
                <a:solidFill>
                  <a:srgbClr val="646B80"/>
                </a:solidFill>
                <a:latin typeface="Aptos"/>
              </a:rPr>
              <a:t>Core language
Handles input processing, functions, conditions and arithmetic.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3736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55664" y="1901952"/>
            <a:ext cx="73152" cy="1179576"/>
          </a:xfrm>
          <a:prstGeom prst="roundRect">
            <a:avLst/>
          </a:prstGeom>
          <a:solidFill>
            <a:srgbClr val="3D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1" y="1938528"/>
            <a:ext cx="45445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Tkinter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2359152"/>
            <a:ext cx="454456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0">
                <a:solidFill>
                  <a:srgbClr val="646B80"/>
                </a:solidFill>
                <a:latin typeface="Aptos"/>
              </a:rPr>
              <a:t>GUI toolkit
Creates the application window, display and buttons.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79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7824" y="3776472"/>
            <a:ext cx="73152" cy="1179576"/>
          </a:xfrm>
          <a:prstGeom prst="round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813048"/>
            <a:ext cx="45445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VS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233672"/>
            <a:ext cx="454456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0">
                <a:solidFill>
                  <a:srgbClr val="646B80"/>
                </a:solidFill>
                <a:latin typeface="Aptos"/>
              </a:rPr>
              <a:t>Code editor
Used to write, run and debug the Python script.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611879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55664" y="3776472"/>
            <a:ext cx="73152" cy="1179576"/>
          </a:xfrm>
          <a:prstGeom prst="roundRect">
            <a:avLst/>
          </a:prstGeom>
          <a:solidFill>
            <a:srgbClr val="319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1" y="3813048"/>
            <a:ext cx="45445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1" y="4233672"/>
            <a:ext cx="454456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0">
                <a:solidFill>
                  <a:srgbClr val="646B80"/>
                </a:solidFill>
                <a:latin typeface="Aptos"/>
              </a:rPr>
              <a:t>Code hosting
Stores the project code and README for sharing.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69280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646B80"/>
                </a:solidFill>
                <a:latin typeface="Aptos"/>
              </a:rPr>
              <a:t>No external Python packages are required for the basic implementation when Tkinter is available in the Python installation.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9672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646B80"/>
                </a:solidFill>
                <a:latin typeface="Aptos"/>
              </a:rPr>
              <a:t>NEXT HIKES IT SOLUTIONS  •  PYTHON CALCULATOR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92240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46B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131930"/>
                </a:solidFill>
                <a:latin typeface="Aptos"/>
              </a:rPr>
              <a:t>How the Calculator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987552"/>
            <a:ext cx="658368" cy="64008"/>
          </a:xfrm>
          <a:prstGeom prst="roundRect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646B80"/>
                </a:solidFill>
                <a:latin typeface="Aptos"/>
              </a:rPr>
              <a:t>A simple event-driven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B80"/>
                </a:solidFill>
                <a:latin typeface="Aptos"/>
              </a:rP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1252728" y="1874519"/>
            <a:ext cx="566928" cy="566928"/>
          </a:xfrm>
          <a:prstGeom prst="ellipse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2002536"/>
            <a:ext cx="5669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37944" y="2157984"/>
            <a:ext cx="1060704" cy="0"/>
          </a:xfrm>
          <a:prstGeom prst="line">
            <a:avLst/>
          </a:prstGeom>
          <a:ln w="25400">
            <a:solidFill>
              <a:srgbClr val="DE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697480"/>
            <a:ext cx="1965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31930"/>
                </a:solidFill>
                <a:latin typeface="Aptos"/>
              </a:rPr>
              <a:t>User clicks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96596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46B80"/>
                </a:solidFill>
                <a:latin typeface="Aptos"/>
              </a:rPr>
              <a:t>A number or operator button is selected.</a:t>
            </a:r>
          </a:p>
        </p:txBody>
      </p:sp>
      <p:sp>
        <p:nvSpPr>
          <p:cNvPr id="11" name="Oval 10"/>
          <p:cNvSpPr/>
          <p:nvPr/>
        </p:nvSpPr>
        <p:spPr>
          <a:xfrm>
            <a:off x="3584448" y="1874519"/>
            <a:ext cx="566928" cy="566928"/>
          </a:xfrm>
          <a:prstGeom prst="ellipse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2002536"/>
            <a:ext cx="5669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9663" y="2157984"/>
            <a:ext cx="1060705" cy="0"/>
          </a:xfrm>
          <a:prstGeom prst="line">
            <a:avLst/>
          </a:prstGeom>
          <a:ln w="25400">
            <a:solidFill>
              <a:srgbClr val="DE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26079" y="2697480"/>
            <a:ext cx="1965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31930"/>
                </a:solidFill>
                <a:latin typeface="Aptos"/>
              </a:rPr>
              <a:t>Callback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3127248"/>
            <a:ext cx="196596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46B80"/>
                </a:solidFill>
                <a:latin typeface="Aptos"/>
              </a:rPr>
              <a:t>Tkinter calls the button's assigned function.</a:t>
            </a:r>
          </a:p>
        </p:txBody>
      </p:sp>
      <p:sp>
        <p:nvSpPr>
          <p:cNvPr id="16" name="Oval 15"/>
          <p:cNvSpPr/>
          <p:nvPr/>
        </p:nvSpPr>
        <p:spPr>
          <a:xfrm>
            <a:off x="5916168" y="1874519"/>
            <a:ext cx="566928" cy="566928"/>
          </a:xfrm>
          <a:prstGeom prst="ellipse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2002536"/>
            <a:ext cx="5669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01384" y="2157984"/>
            <a:ext cx="1060704" cy="0"/>
          </a:xfrm>
          <a:prstGeom prst="line">
            <a:avLst/>
          </a:prstGeom>
          <a:ln w="25400">
            <a:solidFill>
              <a:srgbClr val="DE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57800" y="2697480"/>
            <a:ext cx="1965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31930"/>
                </a:solidFill>
                <a:latin typeface="Aptos"/>
              </a:rPr>
              <a:t>Expression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127248"/>
            <a:ext cx="196596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46B80"/>
                </a:solidFill>
                <a:latin typeface="Aptos"/>
              </a:rPr>
              <a:t>press() appends the selected value to the display.</a:t>
            </a:r>
          </a:p>
        </p:txBody>
      </p:sp>
      <p:sp>
        <p:nvSpPr>
          <p:cNvPr id="21" name="Oval 20"/>
          <p:cNvSpPr/>
          <p:nvPr/>
        </p:nvSpPr>
        <p:spPr>
          <a:xfrm>
            <a:off x="8247888" y="1874519"/>
            <a:ext cx="566928" cy="566928"/>
          </a:xfrm>
          <a:prstGeom prst="ellipse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2002536"/>
            <a:ext cx="5669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33103" y="2157984"/>
            <a:ext cx="1060704" cy="0"/>
          </a:xfrm>
          <a:prstGeom prst="line">
            <a:avLst/>
          </a:prstGeom>
          <a:ln w="25400">
            <a:solidFill>
              <a:srgbClr val="DE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89519" y="2697480"/>
            <a:ext cx="1965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31930"/>
                </a:solidFill>
                <a:latin typeface="Aptos"/>
              </a:rPr>
              <a:t>Calculation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3127248"/>
            <a:ext cx="196596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46B80"/>
                </a:solidFill>
                <a:latin typeface="Aptos"/>
              </a:rPr>
              <a:t>calculate() validates and evaluates the expression.</a:t>
            </a:r>
          </a:p>
        </p:txBody>
      </p:sp>
      <p:sp>
        <p:nvSpPr>
          <p:cNvPr id="26" name="Oval 25"/>
          <p:cNvSpPr/>
          <p:nvPr/>
        </p:nvSpPr>
        <p:spPr>
          <a:xfrm>
            <a:off x="10579608" y="1874519"/>
            <a:ext cx="566928" cy="566928"/>
          </a:xfrm>
          <a:prstGeom prst="ellipse">
            <a:avLst/>
          </a:prstGeom>
          <a:solidFill>
            <a:srgbClr val="3D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79608" y="2002536"/>
            <a:ext cx="5669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697480"/>
            <a:ext cx="1965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31930"/>
                </a:solidFill>
                <a:latin typeface="Aptos"/>
              </a:rPr>
              <a:t>Result appears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3127248"/>
            <a:ext cx="196596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46B80"/>
                </a:solidFill>
                <a:latin typeface="Aptos"/>
              </a:rPr>
              <a:t>The display variable updates with the result or an error.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66344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60704" y="4828031"/>
            <a:ext cx="73152" cy="585216"/>
          </a:xfrm>
          <a:prstGeom prst="roundRect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61872" y="4864607"/>
            <a:ext cx="25786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press(value)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5285231"/>
            <a:ext cx="257860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646B80"/>
                </a:solidFill>
                <a:latin typeface="Aptos"/>
              </a:rPr>
              <a:t>Appends a digit or operator.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466344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72584" y="4828031"/>
            <a:ext cx="73152" cy="585216"/>
          </a:xfrm>
          <a:prstGeom prst="round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73752" y="4864607"/>
            <a:ext cx="25786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clear()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3752" y="5285231"/>
            <a:ext cx="257860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646B80"/>
                </a:solidFill>
                <a:latin typeface="Aptos"/>
              </a:rPr>
              <a:t>Empties the display.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66344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84464" y="4828031"/>
            <a:ext cx="73152" cy="585216"/>
          </a:xfrm>
          <a:prstGeom prst="roundRect">
            <a:avLst/>
          </a:prstGeom>
          <a:solidFill>
            <a:srgbClr val="3D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4864607"/>
            <a:ext cx="25786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calculate()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5285231"/>
            <a:ext cx="257860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646B80"/>
                </a:solidFill>
                <a:latin typeface="Aptos"/>
              </a:rPr>
              <a:t>Evaluates the expression.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519672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646B80"/>
                </a:solidFill>
                <a:latin typeface="Aptos"/>
              </a:rPr>
              <a:t>NEXT HIKES IT SOLUTIONS  •  PYTHON CALCULATOR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492240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46B8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131930"/>
                </a:solidFill>
                <a:latin typeface="Aptos"/>
              </a:rPr>
              <a:t>Code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987552"/>
            <a:ext cx="658368" cy="64008"/>
          </a:xfrm>
          <a:prstGeom prst="roundRect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646B80"/>
                </a:solidFill>
                <a:latin typeface="Aptos"/>
              </a:rPr>
              <a:t>Important parts of calculator.py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B80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993392"/>
            <a:ext cx="73152" cy="2916936"/>
          </a:xfrm>
          <a:prstGeom prst="roundRect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29968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Window &amp; 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450592"/>
            <a:ext cx="2898648" cy="2496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0">
                <a:solidFill>
                  <a:srgbClr val="646B80"/>
                </a:solidFill>
                <a:latin typeface="Aptos"/>
              </a:rPr>
              <a:t>tk.Tk() creates the main window.
tk.StringVar() stores display text.
tk.Entry() creates the display field.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72584" y="1993392"/>
            <a:ext cx="73152" cy="2916936"/>
          </a:xfrm>
          <a:prstGeom prst="roundRect">
            <a:avLst/>
          </a:prstGeom>
          <a:solidFill>
            <a:srgbClr val="3D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2029968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Buttons &amp; 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2450592"/>
            <a:ext cx="2898648" cy="2496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0">
                <a:solidFill>
                  <a:srgbClr val="646B80"/>
                </a:solidFill>
                <a:latin typeface="Aptos"/>
              </a:rPr>
              <a:t>A list stores each button's label, row and column.
A loop creates the buttons dynamically.
grid() positions widgets in rows and columns.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67344" y="1993392"/>
            <a:ext cx="73152" cy="2916936"/>
          </a:xfrm>
          <a:prstGeom prst="round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2029968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Actions &amp; event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2" y="2450592"/>
            <a:ext cx="2898648" cy="2496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0">
                <a:solidFill>
                  <a:srgbClr val="646B80"/>
                </a:solidFill>
                <a:latin typeface="Aptos"/>
              </a:rPr>
              <a:t>press(value) adds input.
clear() clears the display.
calculate() handles evaluation and errors.
mainloop() keeps the GUI interactive.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31930"/>
                </a:solidFill>
                <a:latin typeface="Aptos"/>
              </a:rPr>
              <a:t>Key concepts: variables • functions • loops • conditionals • lambda callbacks • exception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9672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646B80"/>
                </a:solidFill>
                <a:latin typeface="Aptos"/>
              </a:rPr>
              <a:t>NEXT HIKES IT SOLUTIONS  •  PYTHON CALCULATOR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92240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46B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131930"/>
                </a:solidFill>
                <a:latin typeface="Aptos"/>
              </a:rPr>
              <a:t>Testing &amp; Error Handling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987552"/>
            <a:ext cx="658368" cy="64008"/>
          </a:xfrm>
          <a:prstGeom prst="roundRect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646B80"/>
                </a:solidFill>
                <a:latin typeface="Aptos"/>
              </a:rPr>
              <a:t>Examples to demonstrate during the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B80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2743200" cy="512064"/>
          </a:xfrm>
          <a:prstGeom prst="rect">
            <a:avLst/>
          </a:prstGeom>
          <a:solidFill>
            <a:srgbClr val="131930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19656"/>
            <a:ext cx="25420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Test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691640"/>
            <a:ext cx="3657600" cy="512064"/>
          </a:xfrm>
          <a:prstGeom prst="rect">
            <a:avLst/>
          </a:prstGeom>
          <a:solidFill>
            <a:srgbClr val="131930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181965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Input /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1691640"/>
            <a:ext cx="3657600" cy="512064"/>
          </a:xfrm>
          <a:prstGeom prst="rect">
            <a:avLst/>
          </a:prstGeom>
          <a:solidFill>
            <a:srgbClr val="131930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7768" y="181965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03704"/>
            <a:ext cx="2743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331720"/>
            <a:ext cx="25420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232738"/>
                </a:solidFill>
                <a:latin typeface="Aptos"/>
              </a:rPr>
              <a:t>Addition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203704"/>
            <a:ext cx="36576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331720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232738"/>
                </a:solidFill>
                <a:latin typeface="Aptos"/>
              </a:rPr>
              <a:t>7 + 3 =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2203704"/>
            <a:ext cx="36576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7768" y="2331720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319D6F"/>
                </a:solidFill>
                <a:latin typeface="Aptos"/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715768"/>
            <a:ext cx="2743200" cy="512064"/>
          </a:xfrm>
          <a:prstGeom prst="rect">
            <a:avLst/>
          </a:prstGeom>
          <a:solidFill>
            <a:srgbClr val="F2F4FA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843784"/>
            <a:ext cx="25420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232738"/>
                </a:solidFill>
                <a:latin typeface="Aptos"/>
              </a:rPr>
              <a:t>Subtraction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715768"/>
            <a:ext cx="3657600" cy="512064"/>
          </a:xfrm>
          <a:prstGeom prst="rect">
            <a:avLst/>
          </a:prstGeom>
          <a:solidFill>
            <a:srgbClr val="F2F4FA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0168" y="2843784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232738"/>
                </a:solidFill>
                <a:latin typeface="Aptos"/>
              </a:rPr>
              <a:t>9 − 4 =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2715768"/>
            <a:ext cx="3657600" cy="512064"/>
          </a:xfrm>
          <a:prstGeom prst="rect">
            <a:avLst/>
          </a:prstGeom>
          <a:solidFill>
            <a:srgbClr val="F2F4FA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7768" y="2843784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319D6F"/>
                </a:solidFill>
                <a:latin typeface="Apto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227832"/>
            <a:ext cx="2743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355848"/>
            <a:ext cx="25420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232738"/>
                </a:solidFill>
                <a:latin typeface="Aptos"/>
              </a:rPr>
              <a:t>Multiplication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227832"/>
            <a:ext cx="36576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0168" y="3355848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232738"/>
                </a:solidFill>
                <a:latin typeface="Aptos"/>
              </a:rPr>
              <a:t>6 × 5 =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3227832"/>
            <a:ext cx="36576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7768" y="3355848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319D6F"/>
                </a:solidFill>
                <a:latin typeface="Aptos"/>
              </a:rPr>
              <a:t>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739896"/>
            <a:ext cx="2743200" cy="512064"/>
          </a:xfrm>
          <a:prstGeom prst="rect">
            <a:avLst/>
          </a:prstGeom>
          <a:solidFill>
            <a:srgbClr val="F2F4FA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3867911"/>
            <a:ext cx="25420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232738"/>
                </a:solidFill>
                <a:latin typeface="Aptos"/>
              </a:rPr>
              <a:t>Division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3739896"/>
            <a:ext cx="3657600" cy="512064"/>
          </a:xfrm>
          <a:prstGeom prst="rect">
            <a:avLst/>
          </a:prstGeom>
          <a:solidFill>
            <a:srgbClr val="F2F4FA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0168" y="3867911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232738"/>
                </a:solidFill>
                <a:latin typeface="Aptos"/>
              </a:rPr>
              <a:t>8 ÷ 2 =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3739896"/>
            <a:ext cx="3657600" cy="512064"/>
          </a:xfrm>
          <a:prstGeom prst="rect">
            <a:avLst/>
          </a:prstGeom>
          <a:solidFill>
            <a:srgbClr val="F2F4FA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87768" y="3867911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319D6F"/>
                </a:solidFill>
                <a:latin typeface="Aptos"/>
              </a:rPr>
              <a:t>4.0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251960"/>
            <a:ext cx="2743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4379976"/>
            <a:ext cx="25420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232738"/>
                </a:solidFill>
                <a:latin typeface="Aptos"/>
              </a:rPr>
              <a:t>Division by zero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4251960"/>
            <a:ext cx="36576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30168" y="43799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232738"/>
                </a:solidFill>
                <a:latin typeface="Aptos"/>
              </a:rPr>
              <a:t>5 ÷ 0 =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4251960"/>
            <a:ext cx="36576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87768" y="43799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319D6F"/>
                </a:solidFill>
                <a:latin typeface="Aptos"/>
              </a:rPr>
              <a:t>Error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4764024"/>
            <a:ext cx="2743200" cy="512064"/>
          </a:xfrm>
          <a:prstGeom prst="rect">
            <a:avLst/>
          </a:prstGeom>
          <a:solidFill>
            <a:srgbClr val="F2F4FA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" y="4892040"/>
            <a:ext cx="25420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232738"/>
                </a:solidFill>
                <a:latin typeface="Aptos"/>
              </a:rPr>
              <a:t>Clear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4764024"/>
            <a:ext cx="3657600" cy="512064"/>
          </a:xfrm>
          <a:prstGeom prst="rect">
            <a:avLst/>
          </a:prstGeom>
          <a:solidFill>
            <a:srgbClr val="F2F4FA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30168" y="4892040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232738"/>
                </a:solidFill>
                <a:latin typeface="Aptos"/>
              </a:rPr>
              <a:t>Click 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4764024"/>
            <a:ext cx="3657600" cy="512064"/>
          </a:xfrm>
          <a:prstGeom prst="rect">
            <a:avLst/>
          </a:prstGeom>
          <a:solidFill>
            <a:srgbClr val="F2F4FA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87768" y="4892040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319D6F"/>
                </a:solidFill>
                <a:latin typeface="Aptos"/>
              </a:rPr>
              <a:t>Display becomes empty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623560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646B80"/>
                </a:solidFill>
                <a:latin typeface="Aptos"/>
              </a:rPr>
              <a:t>The code uses a try/except block for common arithmetic and expression errors. The expression is also checked against an allowed character pattern before evaluation.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6519672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646B80"/>
                </a:solidFill>
                <a:latin typeface="Aptos"/>
              </a:rPr>
              <a:t>NEXT HIKES IT SOLUTIONS  •  PYTHON CALCULATOR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92840" y="6492240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46B8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700" b="1">
                <a:solidFill>
                  <a:srgbClr val="131930"/>
                </a:solidFill>
                <a:latin typeface="Aptos"/>
              </a:rPr>
              <a:t>Learning Outcomes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987552"/>
            <a:ext cx="658368" cy="64008"/>
          </a:xfrm>
          <a:prstGeom prst="roundRect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646B80"/>
                </a:solidFill>
                <a:latin typeface="Aptos"/>
              </a:rPr>
              <a:t>What this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B80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901952"/>
            <a:ext cx="73152" cy="3145536"/>
          </a:xfrm>
          <a:prstGeom prst="roundRect">
            <a:avLst/>
          </a:prstGeom>
          <a:solidFill>
            <a:srgbClr val="705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38528"/>
            <a:ext cx="45445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Learning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359152"/>
            <a:ext cx="4544568" cy="2724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0">
                <a:solidFill>
                  <a:srgbClr val="646B80"/>
                </a:solidFill>
                <a:latin typeface="Aptos"/>
              </a:rPr>
              <a:t>• Python functions and control flow
• Tkinter widgets and GUI layout
• Event-driven programming and callbacks
• Basic validation and exception handling
• Running code in VS Code and publishing to 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18504" y="1901952"/>
            <a:ext cx="73152" cy="3145536"/>
          </a:xfrm>
          <a:prstGeom prst="roundRect">
            <a:avLst/>
          </a:prstGeom>
          <a:solidFill>
            <a:srgbClr val="3D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938528"/>
            <a:ext cx="45445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31930"/>
                </a:solidFill>
                <a:latin typeface="Aptos"/>
              </a:rPr>
              <a:t>Possible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359152"/>
            <a:ext cx="4544568" cy="2724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0">
                <a:solidFill>
                  <a:srgbClr val="646B80"/>
                </a:solidFill>
                <a:latin typeface="Aptos"/>
              </a:rPr>
              <a:t>• Keyboard input and backspace
• Better expression parsing
• Calculation history
• Improved styling and accessibility
• Scientific calculator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31930"/>
                </a:solidFill>
                <a:latin typeface="Aptos"/>
              </a:rPr>
              <a:t>Current scope: a basic calculator for the four arithmetic operations requested in the assignment.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9672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646B80"/>
                </a:solidFill>
                <a:latin typeface="Aptos"/>
              </a:rPr>
              <a:t>NEXT HIKES IT SOLUTIONS  •  PYTHON CALCULATOR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92240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46B8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47548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417320"/>
            <a:ext cx="64008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200" b="1">
                <a:solidFill>
                  <a:srgbClr val="DCE0F0"/>
                </a:solidFill>
                <a:latin typeface="Aptos"/>
              </a:rPr>
              <a:t>The project demonstrates how Python and Tkinter can be combined to create a simple, interactive desktop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1">
                <a:solidFill>
                  <a:srgbClr val="3DBEAA"/>
                </a:solidFill>
                <a:latin typeface="Aptos"/>
              </a:rPr>
              <a:t>Project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18688"/>
            <a:ext cx="7132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github.com/paridhijain153/Python-Calculator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38404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5559552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700" b="0">
                <a:solidFill>
                  <a:srgbClr val="BEC4DC"/>
                </a:solidFill>
                <a:latin typeface="Aptos"/>
              </a:rPr>
              <a:t>Questions?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234440"/>
            <a:ext cx="2286000" cy="4114800"/>
          </a:xfrm>
          <a:prstGeom prst="roundRect">
            <a:avLst/>
          </a:prstGeom>
          <a:solidFill>
            <a:srgbClr val="2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1828800"/>
            <a:ext cx="146304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4200" b="1">
                <a:solidFill>
                  <a:srgbClr val="3DBEAA"/>
                </a:solidFill>
                <a:latin typeface="Aptos"/>
              </a:rPr>
              <a:t>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880360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Tkinter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383280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0">
                <a:solidFill>
                  <a:srgbClr val="CCD1E6"/>
                </a:solidFill>
                <a:latin typeface="Aptos"/>
              </a:rPr>
              <a:t>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4251960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Paridhi Jain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10515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0">
                <a:solidFill>
                  <a:srgbClr val="ADB4CF"/>
                </a:solidFill>
                <a:latin typeface="Aptos"/>
              </a:rPr>
              <a:t>Source: NextHikes IT Solutions project brief; Python Tkinter documentation (docs.python.org/3/library/tkinter.html).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